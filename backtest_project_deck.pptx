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E3480">
              <a:alpha val="40000"/>
            </a:srgbClr>
          </a:solidFill>
          <a:ln w="12700">
            <a:solidFill>
              <a:srgbClr val="1E348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011680"/>
            <a:ext cx="3200400" cy="3200400"/>
          </a:xfrm>
          <a:prstGeom prst="ellipse">
            <a:avLst/>
          </a:prstGeom>
          <a:solidFill>
            <a:srgbClr val="162660">
              <a:alpha val="50000"/>
            </a:srgbClr>
          </a:solidFill>
          <a:ln w="12700">
            <a:solidFill>
              <a:srgbClr val="16266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</a:rPr>
              <a:t>BUFN 442 — SPRING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Project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8F8"/>
                </a:solidFill>
              </a:rPr>
              <a:t>In-Class Presentation  ·  Slide Deck  ·  Python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041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</a:rPr>
              <a:t>Professor Wermers  ·  Updated March 24,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B429"/>
                </a:solidFill>
              </a:rPr>
              <a:t>Due: Monday, May 11, 2026 at 10:30 AM  |  VMH 3505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TODAY'S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73152" cy="9144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BE3"/>
                </a:solidFill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4632" y="1819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Objective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039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What the backtest achieves &amp; team setup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96312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96312"/>
            <a:ext cx="73152" cy="9144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587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BE3"/>
                </a:solidFill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4632" y="2898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In-Sample Estimation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31181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Factor selection, z-scores, Fama-MacBeth estimation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575304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75304"/>
            <a:ext cx="73152" cy="9144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6667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BE3"/>
                </a:solidFill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4632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Factor Pruning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4197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Selecting the final model based on t-stats &amp; economic logic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41732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417320"/>
            <a:ext cx="73152" cy="9144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BE3"/>
                </a:solidFill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873752" y="1819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Out-of-Sample 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3752" y="2039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Scoring stocks, portfolio construction, rebalancing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496312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496312"/>
            <a:ext cx="73152" cy="9144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587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BE3"/>
                </a:solidFill>
              </a:rPr>
              <a:t>05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873752" y="2898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Performance Analytics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31181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Raw return, CAPM α, 4-factor α, Information Ratio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575304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75304"/>
            <a:ext cx="73152" cy="9144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6667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BE3"/>
                </a:solidFill>
              </a:rPr>
              <a:t>06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4873752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Deliverables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4197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Presentation format, code submission, due date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A — OBJECTIVE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Building?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91440" cy="1234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 a long-short quantitative equity strategy over a 20–30 year period using Python (or Matlab/R/C++) and multiple data sources, then evaluate it out-of-sample with rigorous performance analytics.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2029968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2953512"/>
            <a:ext cx="475488" cy="47548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9848" y="29169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Teams of 3–4 Students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35204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Form your group and divide tasks — data, coding, presentation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78024" y="2788920"/>
            <a:ext cx="2029968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42616" y="2953512"/>
            <a:ext cx="475488" cy="47548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27832" y="29169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20–30 Year Horizon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42616" y="35204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Covering in-sample estimation + out-of-sample test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36008" y="2788920"/>
            <a:ext cx="2029968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53512"/>
            <a:ext cx="475488" cy="47548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85816" y="29169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Python Preferred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5204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Matlab, R, C++, or other languages permitted (check first)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93992" y="2788920"/>
            <a:ext cx="2029968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58584" y="2953512"/>
            <a:ext cx="475488" cy="47548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58584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43800" y="29169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Due May 11, 2026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58584" y="35204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Slides + Python code uploaded to ELMS by 10:30 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BIG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Backtest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126187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89888"/>
            <a:ext cx="1261872" cy="10972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BE3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25–35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Factors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Textbooks,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research,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data sources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08760" y="2185416"/>
            <a:ext cx="164592" cy="14630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1389888"/>
            <a:ext cx="126187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91640" y="1389888"/>
            <a:ext cx="1261872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189280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In-Sample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Fama-MacBeth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Estimation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~2/3 of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time period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71800" y="2185416"/>
            <a:ext cx="164592" cy="14630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389888"/>
            <a:ext cx="126187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389888"/>
            <a:ext cx="1261872" cy="1097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E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46120" y="189280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Prune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Final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t-stat ≥ 1.5 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strong econ story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34840" y="2185416"/>
            <a:ext cx="164592" cy="14630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389888"/>
            <a:ext cx="126187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389888"/>
            <a:ext cx="1261872" cy="10972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BE3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189280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Score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Stocks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Out-of-Sample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Weighted z-scores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× t-statistics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97880" y="2185416"/>
            <a:ext cx="164592" cy="14630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1389888"/>
            <a:ext cx="126187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389888"/>
            <a:ext cx="1261872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72200" y="189280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Construct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Long-Short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Portfolio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Top 10% long,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bottom 10% short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60920" y="2185416"/>
            <a:ext cx="164592" cy="14630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1389888"/>
            <a:ext cx="1261872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43800" y="1389888"/>
            <a:ext cx="1261872" cy="10972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695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B6C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35240" y="189280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Performance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Analytics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Raw, CAPM α,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4-factor α, IR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3291840"/>
            <a:ext cx="4197096" cy="201168"/>
          </a:xfrm>
          <a:prstGeom prst="rect">
            <a:avLst/>
          </a:prstGeom>
          <a:solidFill>
            <a:srgbClr val="D8E8F8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291840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E"/>
                </a:solidFill>
              </a:rPr>
              <a:t>IN-SAMPLE ESTIMATION  (~2/3 of data)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3291840"/>
            <a:ext cx="4178808" cy="201168"/>
          </a:xfrm>
          <a:prstGeom prst="rect">
            <a:avLst/>
          </a:prstGeom>
          <a:solidFill>
            <a:srgbClr val="E8F4EC"/>
          </a:solidFill>
          <a:ln w="12700">
            <a:solidFill>
              <a:srgbClr val="B0D9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54296" y="3291840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B6C"/>
                </a:solidFill>
              </a:rPr>
              <a:t>OUT-OF-SAMPLE FORECASTING TEST  (~1/3 of data)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Universe &amp; Eligibility Filters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02996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572768"/>
            <a:ext cx="640080" cy="64008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NYSE / AMEX / NASDAQ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276148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Common stocks only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(no preferred shares, ADRs, etc.)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78024" y="1481328"/>
            <a:ext cx="202996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572768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15184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Price ≥ $5 per Share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87752" y="276148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Measured at beginning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of each forecast year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6008" y="1481328"/>
            <a:ext cx="202996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21808" y="1572768"/>
            <a:ext cx="640080" cy="6400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73168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Market Cap ≥ $100M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45736" y="276148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Eliminates illiquid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microcap stocks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93992" y="1481328"/>
            <a:ext cx="202996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792" y="1572768"/>
            <a:ext cx="640080" cy="6400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31152" y="234086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Complete Factor Data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03720" y="276148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All factors must be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non-missing for a stock-year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58768"/>
            <a:ext cx="8503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858768"/>
            <a:ext cx="91440" cy="7315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31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⚠  Important: Every stock must have complete data for EVERY factor to be included in a given backtest year. Factors with many missing values will shrink your sample — consider imputation methods.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Selection: 25–35 Signals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6177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91440" cy="333756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904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Selection Guidelines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Start with 25–35 candidate factors (some will be dropped)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Choose factors from textbook Chapter 4, research papers, or reputable outside sources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Think in 'categories' — value, momentum, quality, growth, technical, etc.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Each factor must have a supporting research article explaining expected returns &amp; risk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13048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Factors available via openassetpricing.com or constructed from WRDS/Morningstar/Bloomberg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Factors must be available for ALL stocks at a given date — not just today's survivors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02352" y="1417320"/>
            <a:ext cx="372160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57800" y="1490472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Example Factor Categories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1920240"/>
            <a:ext cx="731520" cy="310896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9202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1675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E/P, B/P, CF/P, S/P, EV/EBITDA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0" y="2487168"/>
            <a:ext cx="73152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Momentum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16752" y="24871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12-1 month return, earnings surprise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3054096"/>
            <a:ext cx="731520" cy="310896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054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Quality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16752" y="30540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ROE, ROA, gross profitability, accruals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0" y="3621024"/>
            <a:ext cx="731520" cy="31089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6210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Growth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16752" y="36210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Sales growth, earnings revision, R&amp;D/sales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4187952"/>
            <a:ext cx="731520" cy="31089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41879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16752" y="4187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Short interest, institutional ownership, turnover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Data Sources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761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2761488" cy="82296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Open Asset Pricing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865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5BE3"/>
                </a:solidFill>
              </a:rPr>
              <a:t>Dr. Andrew Chen (Federal Reserve Board)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0756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Comprehensive library of pre-built equity factors — the primary recommended data source for signal construction.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91256" y="1481328"/>
            <a:ext cx="2761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91256" y="1481328"/>
            <a:ext cx="2761488" cy="822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WRDS / CRSP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00984" y="1865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90D9"/>
                </a:solidFill>
              </a:rPr>
              <a:t>Wharton Research Data Services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00984" y="20756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Monthly returns, SIC codes, shares outstanding. Critical for y-variable (stock returns) and many fundamental factors. Watch for missing return codes &lt; −1.0 (e.g., −99).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62472" y="1481328"/>
            <a:ext cx="2761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2472" y="1481328"/>
            <a:ext cx="2761488" cy="8229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Compustat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1865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E"/>
                </a:solidFill>
              </a:rPr>
              <a:t>S&amp;P Global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20756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Annual fundamental data: earnings, book value, sales, cash flows. Use CRSP-Compustat Merged (CCM) database.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889504"/>
            <a:ext cx="2761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89504"/>
            <a:ext cx="2761488" cy="82296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Morningstar Direct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B6C"/>
                </a:solidFill>
              </a:rPr>
              <a:t>Morningstar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348386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Mutual fund holdings, analyst estimates, and fundamentals data. Available through UMD subscription.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91256" y="2889504"/>
            <a:ext cx="2761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91256" y="2889504"/>
            <a:ext cx="2761488" cy="8229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IBES / Thomson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00984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B429"/>
                </a:solidFill>
              </a:rPr>
              <a:t>Refinitiv (LSEG)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00984" y="348386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Analyst earnings estimates and revisions — key inputs for earnings surprise and revision factors.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62472" y="2889504"/>
            <a:ext cx="2761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62472" y="2889504"/>
            <a:ext cx="2761488" cy="82296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Bloomberg Terminal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72200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Bloomberg LP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348386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Additional factors permitted. Must be available for all stocks at each historical date, not survivorship biased.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 Normalization of Factors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91440" cy="10058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Z-Score Formula (Industry-Adjusted):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5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Z_it  =  ( X_it  −  μ_industry,t )  /  σ_industry,t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2633472"/>
            <a:ext cx="4187952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07792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3272" y="2724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Industry Groups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33272" y="30266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Map SIC codes → 49 Fama-French industries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(use SIC_49_Industry.xlsx on course portal)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6008" y="2633472"/>
            <a:ext cx="4187952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2907792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2724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Cross-Section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49240" y="30266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Z-score each factor cross-sectionally within each industry at each year-end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776472"/>
            <a:ext cx="4187952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50792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3272" y="3867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Do NOT Z-score 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33272" y="41696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The return (y-variable) should remain in raw form — do not standardize 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36008" y="3776472"/>
            <a:ext cx="4187952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4050792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867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Raw vs. Z-scored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49240" y="41696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Always work with z-scores in regressions, not raw factor values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Estimation Windows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8503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Example Timeline (1985–2023 data)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5179162" cy="4114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82082" y="2267712"/>
            <a:ext cx="2913278" cy="41148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13432"/>
            <a:ext cx="5017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IN-SAMPLE: 1985–2006 factors → predict 1986–2007 returns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3006" y="2313432"/>
            <a:ext cx="27514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OUT-OF-SAMPLE: 2007–2022 → 2008–2023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1985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44922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2007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21040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2023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41879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3246120"/>
            <a:ext cx="411480" cy="41148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End of Year t (e.g., 1985)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4381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Factor exposures measured at Dec 31, 1985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36008" y="3090672"/>
            <a:ext cx="41879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45736" y="3246120"/>
            <a:ext cx="411480" cy="41148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0368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Forecast Year t+1 (e.g., 1986)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0368" y="34381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Stock returns compounded monthly from CRSP for full calendar year 1986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41879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" y="4142232"/>
            <a:ext cx="411480" cy="41148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Repeat Each Year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334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Moving estimation window: add each new year, re-estimate premia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6008" y="3986784"/>
            <a:ext cx="41879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45736" y="4142232"/>
            <a:ext cx="411480" cy="41148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30368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Final Window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4334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End of 2006 exposures → forecast 2007 annual returns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Fama-MacBeth Cross-Sectional Regressions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8503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91440" cy="14173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Annual Cross-Sectional Regression (Year t → t+1):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5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R_{i,t+1}  =  α_t  +  γ_{1,t}·Z_{1,i,t}  +  γ_{2,t}·Z_{2,i,t}  +  …  +  γ_{K,t}·Z_{K,i,t}  +  ε_{i,t+1}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</a:rPr>
              <a:t>where γ_{k,t}  =  factor k premium in year t,   Z_{k,i,t}  =  z-scored exposure of stock i to factor k at end of year 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999232"/>
            <a:ext cx="41879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99232"/>
            <a:ext cx="73152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07238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Fama-MacBeth Average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36499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γ̄_k = (1/T) Σ γ_{k,t} — average premium across all T estimation windows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6008" y="2999232"/>
            <a:ext cx="41879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6008" y="2999232"/>
            <a:ext cx="73152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307238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Fama-MacBeth t-stat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37176" y="336499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t_k = γ̄_k × √T / σ(γ_{k,1}, …, γ_{k,T}) — divide mean by std dev, scale by √T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59352"/>
            <a:ext cx="41879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59352"/>
            <a:ext cx="73152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032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Monthly Option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" y="432511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Run 12 regressions per year (Jan–Dec) with Dec-end factor exposures; gives 12×T coefficients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6008" y="3959352"/>
            <a:ext cx="41879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6008" y="3959352"/>
            <a:ext cx="73152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4032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Key Output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37176" y="432511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Average premium + t-stat per factor → determines signal weights for out-of-sample scoring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In-Sample Results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</a:rPr>
              <a:t>Example output table — your results will fill in actual values: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19072"/>
          <a:ext cx="850392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1143000"/>
                <a:gridCol w="1188720"/>
                <a:gridCol w="1005840"/>
                <a:gridCol w="1188720"/>
                <a:gridCol w="1188720"/>
                <a:gridCol w="960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Avg. Premium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t-statistic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Keep?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E/P Ratio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0.42%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1.85%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2.27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6B3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12-1 Momentum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Momentum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0.38%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2.10%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1.81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6B3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Gross Profit/Assets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Quality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0.29%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1.60%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1.81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6B3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Accruals (Sloan)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Quality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−0.33%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1.92%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1.72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6B3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Sales Growth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Growth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0.08%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2.30%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0.35 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</a:rPr>
                        <a:t>Drop?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Short Interest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Technical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−0.55%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2.80%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1.96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6B3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Beta (CAPM)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0.05%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2.10%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0.24 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</a:rPr>
                        <a:t>Drop?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  ·  Values shown are illustrative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B — IN-SAMPLE ESTIMATION: STEP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 Factors: The Final Model Decision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8503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5361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Factor Inclusion Decision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938528"/>
            <a:ext cx="265176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9385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Factor from backtest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441448"/>
            <a:ext cx="0" cy="347472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7712" y="2697480"/>
            <a:ext cx="4151376" cy="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2697480"/>
            <a:ext cx="0" cy="347472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044952"/>
            <a:ext cx="2706624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449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t-stat &lt; 1.5 or wrong 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2697480"/>
            <a:ext cx="0" cy="347472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3044952"/>
            <a:ext cx="2816352" cy="50292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04495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t-stat ≥ 1.5 and correct 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67712" y="3547872"/>
            <a:ext cx="0" cy="27432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3822192"/>
            <a:ext cx="2121408" cy="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7008" y="3822192"/>
            <a:ext cx="0" cy="256032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3822192"/>
            <a:ext cx="0" cy="256032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4078224"/>
            <a:ext cx="1645920" cy="502920"/>
          </a:xfrm>
          <a:prstGeom prst="rect">
            <a:avLst/>
          </a:prstGeom>
          <a:solidFill>
            <a:srgbClr val="D93B3B"/>
          </a:solidFill>
          <a:ln w="12700">
            <a:solidFill>
              <a:srgbClr val="D9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0782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4078224"/>
            <a:ext cx="169164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407822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KEEP if strong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econ story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8776" y="3547872"/>
            <a:ext cx="0" cy="530352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4078224"/>
            <a:ext cx="2267712" cy="50292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07822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KEEP in final 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</a:rPr>
              <a:t>⚠  Keep at least 10 factors for a meaningful final model. Use judgment — strong Bayesian priors (prior research) can outweigh a weak t-stat.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E3A20">
              <a:alpha val="50000"/>
            </a:srgbClr>
          </a:solidFill>
          <a:ln w="12700">
            <a:solidFill>
              <a:srgbClr val="1E3A20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B429"/>
                </a:solidFill>
              </a:rPr>
              <a:t>PART II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Out-of-Sample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Test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3401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8F8"/>
                </a:solidFill>
              </a:rPr>
              <a:t>Steps 10–14  ·  Scoring, Portfolio Construction &amp; Performance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</a:rPr>
              <a:t>~1/3 of full time range  (e.g., 2007–2022 factors  →  2008–2023 returns)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C — OUT-OF-SAMPLE: STEP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Individual Stock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8503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91440" cy="111556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Stock Score Formula: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Score_i  =  Z₁ᵢ × t₁  +  Z₂ᵢ × t₂  +  …  +  ZₖI × tₖ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where  Zₖᵢ = industry-adj z-score of factor k for stock i at Dec 31 of year t+n+1;   tₖ = Fama-MacBeth t-statistic for factor k (sign already correct from in-sample backtest)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715768"/>
            <a:ext cx="310896" cy="310896"/>
          </a:xfrm>
          <a:prstGeom prst="ellipse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157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Year-End Measurement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90672" y="271576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Compute each factor z-score at Dec 31 of the scoring year (e.g., Dec 31, 2007)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218688"/>
            <a:ext cx="310896" cy="310896"/>
          </a:xfrm>
          <a:prstGeom prst="ellipse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186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Use In-Sample Weights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90672" y="32186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The t-statistics from in-sample estimation serve as weights — do not re-estimate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721608"/>
            <a:ext cx="310896" cy="310896"/>
          </a:xfrm>
          <a:prstGeom prst="ellipse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721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Handle Signs Carefully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90672" y="37216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t-stat already has correct sign if backtest worked properly — verify each factor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4224528"/>
            <a:ext cx="310896" cy="310896"/>
          </a:xfrm>
          <a:prstGeom prst="ellipse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224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Score Every Stock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90672" y="422452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Compute score for all eligible stocks (universe filters still apply)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66344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4727448"/>
            <a:ext cx="310896" cy="310896"/>
          </a:xfrm>
          <a:prstGeom prst="ellipse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727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Rank Stocks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90672" y="47274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Sort all stocks from highest to lowest score to form portfolios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C — OUT-OF-SAMPLE: STEP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Construction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85039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Equal-Weighted Decile Ranking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676656" cy="731520"/>
          </a:xfrm>
          <a:prstGeom prst="rect">
            <a:avLst/>
          </a:prstGeom>
          <a:solidFill>
            <a:srgbClr val="D93B3B"/>
          </a:solidFill>
          <a:ln w="12700">
            <a:solidFill>
              <a:srgbClr val="D9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(Short)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88720" y="2852928"/>
            <a:ext cx="676656" cy="457200"/>
          </a:xfrm>
          <a:prstGeom prst="rect">
            <a:avLst/>
          </a:prstGeom>
          <a:solidFill>
            <a:srgbClr val="E88080"/>
          </a:solidFill>
          <a:ln w="12700">
            <a:solidFill>
              <a:srgbClr val="E8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0240" y="2944368"/>
            <a:ext cx="676656" cy="365760"/>
          </a:xfrm>
          <a:prstGeom prst="rect">
            <a:avLst/>
          </a:prstGeom>
          <a:solidFill>
            <a:srgbClr val="F0A070"/>
          </a:solidFill>
          <a:ln w="12700">
            <a:solidFill>
              <a:srgbClr val="F0A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51760" y="3035808"/>
            <a:ext cx="676656" cy="274320"/>
          </a:xfrm>
          <a:prstGeom prst="rect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83280" y="3081528"/>
            <a:ext cx="676656" cy="22860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0" y="3081528"/>
            <a:ext cx="676656" cy="22860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3035808"/>
            <a:ext cx="676656" cy="274320"/>
          </a:xfrm>
          <a:prstGeom prst="rect">
            <a:avLst/>
          </a:prstGeom>
          <a:solidFill>
            <a:srgbClr val="7ABFA0"/>
          </a:solidFill>
          <a:ln w="12700">
            <a:solidFill>
              <a:srgbClr val="7AB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D7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2944368"/>
            <a:ext cx="676656" cy="365760"/>
          </a:xfrm>
          <a:prstGeom prst="rect">
            <a:avLst/>
          </a:prstGeom>
          <a:solidFill>
            <a:srgbClr val="5AAF90"/>
          </a:solidFill>
          <a:ln w="12700">
            <a:solidFill>
              <a:srgbClr val="5AAF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D8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2807208"/>
            <a:ext cx="676656" cy="502920"/>
          </a:xfrm>
          <a:prstGeom prst="rect">
            <a:avLst/>
          </a:prstGeom>
          <a:solidFill>
            <a:srgbClr val="3A9F80"/>
          </a:solidFill>
          <a:ln w="12700">
            <a:solidFill>
              <a:srgbClr val="3A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40880" y="2487168"/>
            <a:ext cx="676656" cy="82296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4670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D10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(Long)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310128"/>
            <a:ext cx="7315200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 rot="16200000">
            <a:off x="384048" y="178308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↑ Predicted Return Score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3B3B"/>
                </a:solidFill>
              </a:rPr>
              <a:t>Lowest Score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8660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9B6C"/>
                </a:solidFill>
              </a:rPr>
              <a:t>Highest Score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041648"/>
            <a:ext cx="4187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41648"/>
            <a:ext cx="73152" cy="47548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40782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Long Portfolio (D10)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" y="427939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Equal-weight top 10% of ranked stocks — enter January of next calendar year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36008" y="4041648"/>
            <a:ext cx="4187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4041648"/>
            <a:ext cx="73152" cy="475488"/>
          </a:xfrm>
          <a:prstGeom prst="rect">
            <a:avLst/>
          </a:prstGeom>
          <a:solidFill>
            <a:srgbClr val="D93B3B"/>
          </a:solidFill>
          <a:ln w="12700">
            <a:solidFill>
              <a:srgbClr val="D93B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40782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Short Portfolio (D1)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37176" y="427939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Equal-weight bottom 10% of ranked stocks — short sell for calendar year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590288"/>
            <a:ext cx="4187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590288"/>
            <a:ext cx="73152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6268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Optional Enhancement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1208" y="482803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Mean-variance optimization for weights (not required but more sophisticated)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36008" y="4590288"/>
            <a:ext cx="4187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36008" y="4590288"/>
            <a:ext cx="73152" cy="47548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7176" y="46268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Annual Rebalancing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37176" y="482803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Re-score and rebalance portfolio at end of each year throughout OOS period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C — OUT-OF-SAMPLE: STEPS 12–13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the Process &amp; Computing Returns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627632"/>
            <a:ext cx="685800" cy="685800"/>
          </a:xfrm>
          <a:prstGeom prst="ellipse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276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8448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</a:rPr>
              <a:t>Repeat for Every Year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Compute scores at end of each year from t+n+1 to final data year (e.g., Dec 2022). Re-score stocks, rebuild portfolios, repeat.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779776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2926080"/>
            <a:ext cx="685800" cy="685800"/>
          </a:xfrm>
          <a:prstGeom prst="ellipse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98448" y="2871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</a:rPr>
              <a:t>Monthly Return Series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32369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</a:rPr>
              <a:t>For each month in the OOS period (e.g., Jan 2008 – Dec 2023): compute Long Portfolio return, Short Portfolio return, and the Long–Short spread.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133088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133088"/>
            <a:ext cx="91440" cy="6400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Monthly Spread Return: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4462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R_spread,m  =  R_Long,m  −  R_Short,m   (for each month m in the OOS period)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C — OUT-OF-SAMPLE: STEP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Analytics: Four Required Measures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4187952" cy="914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5910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</a:rPr>
              <a:t>①  Raw Return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" y="193852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5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Monthly Spread × 12  (annualized)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" y="2313432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Simple annualized average of the long-short spread across all OOS months. Baseline performance measure.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1444752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1444752"/>
            <a:ext cx="4187952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5910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</a:rPr>
              <a:t>②  CAPM Alpha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2312" y="193852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from: R_spread = α + β·R_MKT + 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82312" y="2313432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Risk-adjusted return after controlling for market beta. Alpha &gt; 0 means the model adds value beyond market exposure.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63824"/>
            <a:ext cx="4187952" cy="91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310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</a:rPr>
              <a:t>③  4-Factor Alpha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" y="36576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from: R_spread = α + β₁·MKT + β₂·SMB + β₃·HML + β₄·UMD + 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" y="403250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Fama-French-Carhart model. Controls for size (SMB), value (HML), and momentum (UMD). Strongest robustness test.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3163824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3163824"/>
            <a:ext cx="4187952" cy="9144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0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</a:rPr>
              <a:t>④  Information Ratio (4-Factor)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82312" y="36576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 = α₄ₓ / σ(ε)  (4-factor residual IR)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403250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Alpha per unit of residual risk. Higher IR = more consistent outperformance. The 'Sharpe Ratio' of active management.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Code for all four measures is provided in Python Lab #5 solutions. See textbook Chapter 3 for definitions and interpretation.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1E2A50">
              <a:alpha val="40000"/>
            </a:srgbClr>
          </a:solidFill>
          <a:ln w="12700">
            <a:solidFill>
              <a:srgbClr val="1E2A5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B429"/>
                </a:solidFill>
              </a:rPr>
              <a:t>PART III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6858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37307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8F8"/>
                </a:solidFill>
              </a:rPr>
              <a:t>Step 15  ·  What to Show, How to Show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</a:rPr>
              <a:t>In-Class Presentation  ·  Slide Deck + Python Code on ELMS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D — DELIVERABLES: STEP 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Content for Your Presentation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187952" cy="91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618488"/>
            <a:ext cx="475488" cy="47548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Factor Motivation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19933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Which factors did you choose?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2494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Supporting research articles (cite authors, journal, year)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5054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Expected return and risk predictions from the literature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7614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Rationale for factor categories selected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6008" y="1463040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6008" y="1463040"/>
            <a:ext cx="4187952" cy="91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1618488"/>
            <a:ext cx="475488" cy="47548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85816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In-Sample Results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19933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Fama-MacBeth average premia per factor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2494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t-statistics and signs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5054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Which factors you kept vs. dropped and why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7614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Final model composition (≥10 factors)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182112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82112"/>
            <a:ext cx="4187952" cy="91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" y="3337560"/>
            <a:ext cx="475488" cy="47548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69848" y="33467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Out-of-Sample Results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" y="37124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Stock scoring approach and portfolio construction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" y="39684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Long-short return series (plot if possible)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42245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Performance analytics: Raw, CAPM α, 4-Factor α, IR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" y="44805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Compare to benchmarks if available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36008" y="3182112"/>
            <a:ext cx="418795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36008" y="3182112"/>
            <a:ext cx="4187952" cy="91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4024" y="3337560"/>
            <a:ext cx="475488" cy="47548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85816" y="33467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Conclusions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00600" y="37124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Did your model work? Why or why not?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9684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Economic interpretation of performance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42245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What would you do differently?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44805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Lessons learned for real-world application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D — DELIVERABLES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Must Submit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81328"/>
            <a:ext cx="2651760" cy="914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9224" y="23317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5E"/>
                </a:solidFill>
              </a:rPr>
              <a:t>Slide Deck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" y="26974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PowerPoint or PDF format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Upload to ELMS before deadline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481328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81328"/>
            <a:ext cx="2651760" cy="91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83864" y="23317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5E"/>
                </a:solidFill>
              </a:rPr>
              <a:t>Python Code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83864" y="26974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All code files used in backtest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Commented and organized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481328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481328"/>
            <a:ext cx="2651760" cy="9144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🎤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18504" y="23317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5E"/>
                </a:solidFill>
              </a:rPr>
              <a:t>In-Class Presentation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18504" y="26974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15–20 minutes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All group members participate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8503920" cy="107899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</a:rPr>
              <a:t>🗓  DUE 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Monday, May 11, 2026 at 10:30 AM EDT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42611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8"/>
                </a:solidFill>
              </a:rPr>
              <a:t>VMH 3505  ·  Slide deck + Python code uploaded to ELMS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TECHNICAL GUIDANCE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Notes &amp; Common Pitfalls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61488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761488" cy="82296"/>
          </a:xfrm>
          <a:prstGeom prst="rect">
            <a:avLst/>
          </a:prstGeom>
          <a:solidFill>
            <a:srgbClr val="D93B3B"/>
          </a:solidFill>
          <a:ln w="12700">
            <a:solidFill>
              <a:srgbClr val="D93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59105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⚠️  CRSP Return Codes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" y="195681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Monthly returns &lt; −1.0 (e.g., −99) are missing-value codes, NOT real returns. Filter them out before any calculation.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463040"/>
            <a:ext cx="2761488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463040"/>
            <a:ext cx="2761488" cy="8229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59105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📐  Monthly Return Format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46704" y="195681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CRSP outputs monthly returns in a specific format. Pay close attention to this format when feeding returns into regressions.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463040"/>
            <a:ext cx="2761488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463040"/>
            <a:ext cx="2761488" cy="82296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59105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🔢  Compounding Returns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45352" y="195681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Annual y-variable = compound monthly returns from CRSP for the full calendar year. Don't use simple averages.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99232"/>
            <a:ext cx="2761488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99232"/>
            <a:ext cx="2761488" cy="822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312724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🏭  Industry Mapping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" y="349300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Use SIC codes from CRSP-Compustat → map to 49 Fama-French industries using SIC_49_Industry.xlsx on course portal.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2999232"/>
            <a:ext cx="2761488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999232"/>
            <a:ext cx="2761488" cy="8229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12724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📅  Survivorship Bias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46704" y="349300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Include ALL stocks that existed at each historical date — not just today's survivors. Use point-in-time factor values.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17336" y="2999232"/>
            <a:ext cx="2761488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2999232"/>
            <a:ext cx="2761488" cy="82296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312724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🔍  Missing Values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5352" y="349300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 stock must have data on EVERY factor to be included in a backtest year. Plan an imputation strategy or accept a smaller universe.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TECHNICAL GUIDANCE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Python Code 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73152" cy="4572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536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01_data_collection.py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5361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Download factor data from WRDS/Compustat/CRSP/OpenAssetPricing. Store annual snapshots.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75104"/>
            <a:ext cx="73152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02_data_cleaning.py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0482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Apply universe filters ($5 price, $100M market cap, common stocks). Handle missing CRSP codes.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87168"/>
            <a:ext cx="73152" cy="457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03_zscore_factors.py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560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Compute industry-adjusted z-scores for each factor each year. Map SIC → FF49 industries.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99232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99232"/>
            <a:ext cx="73152" cy="45720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072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04_in_sample_fm.py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072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Run Fama-MacBeth cross-sectional regressions. Compute average premia and t-statistics per factor.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11296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11296"/>
            <a:ext cx="73152" cy="4572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584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05_factor_selection.py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584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Review t-stats and signs. Select final model factors. Output weights (t-statistics) for scoring step.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023360"/>
            <a:ext cx="73152" cy="4572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4096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06_oos_scoring.py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40965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Score stocks each year out-of-sample. Construct long/short portfolios. Compute monthly spreads.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535424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535424"/>
            <a:ext cx="73152" cy="45720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46085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07_performance.py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46085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Compute raw return, CAPM alpha, 4-factor alpha, and Information Ratio. Code from Python Lab #5.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D — DELIVERABLES: FACTOR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Documenting Each Factor: Required Components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</a:rPr>
              <a:t>For each of your 25–35 initial factors, your presentation and code should document: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761488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37360"/>
            <a:ext cx="2761488" cy="914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Factor Identification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Factor name &amp; 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Mathematical definition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Data inputs and sources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Availability start 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96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Construction methodology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1737360"/>
            <a:ext cx="2761488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737360"/>
            <a:ext cx="2761488" cy="91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Research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22677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Citing research article(s)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27249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Authors, journal, year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31821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Predicted direction (+ or −)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6393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Magnitude of expected return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4096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Economic mechanism / story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1737360"/>
            <a:ext cx="2761488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17336" y="1737360"/>
            <a:ext cx="2761488" cy="9144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Backtest Result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4496" y="22677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Fama-MacBeth average premium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54496" y="27249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t-statistic and sign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31821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Consistent with prediction?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36393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Decision: keep or drop?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4096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Justification for decision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</a:rPr>
              <a:t>💡 Tip: Organize factors into a single master table — one row per factor — covering all columns above. This makes it easy to discuss in Q&amp;A.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 D — GRADING GUIDANCE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Strong Presentation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73152" cy="53035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361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Factor Selection &amp; Motivation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75564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Are factors well-motivated by theory and research? Are categories diverse? Is each factor properly defined and sourced?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66544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66544"/>
            <a:ext cx="73152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396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In-Sample Methodology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121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2359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Correct z-scoring, proper cross-sectional regression setup, accurate Fama-MacBeth averaging and t-stat computation?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70048"/>
            <a:ext cx="73152" cy="5303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743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Model Pruning Decision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724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★★★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" y="296265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Is the factor inclusion/exclusion decision thoughtful? Is there clear economic reasoning beyond just mechanical cutoffs?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273552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73552"/>
            <a:ext cx="73152" cy="530352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3467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Out-of-Sample Execution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328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35661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Correct scoring formula, proper portfolio construction, monthly return computation, rebalancing discipline?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877056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877056"/>
            <a:ext cx="73152" cy="5303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9502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Performance Analytics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" y="41696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All four measures computed correctly: Raw, CAPM α, 4-Factor α, Information Ratio? Properly interpreted?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480560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480560"/>
            <a:ext cx="73152" cy="5303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45537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Conclusions &amp; Insight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535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★★★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" y="47731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Does the group demonstrate genuine understanding of why the model did/didn't work? Any ideas for improvement?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PROJECT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Timeline &amp;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029968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029968" cy="38404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Setup &amp;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5BE3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Form team of 3–4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898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5BE3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Identify 25–35 candidate factors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5BE3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Download data from WRDS, Open Asset Pricing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0325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5BE3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Set up CRSP return extraction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78024" y="1463040"/>
            <a:ext cx="2029968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78024" y="1463040"/>
            <a:ext cx="2029968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Weeks 3–4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9464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Z-Scores &amp; Estimation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9464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Compute industry z-scores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9464" y="2898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Run Fama-MacBeth regressions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9464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Calculate average premia &amp; t-stats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9464" y="40325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Document results in 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6008" y="1463040"/>
            <a:ext cx="2029968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36008" y="1463040"/>
            <a:ext cx="2029968" cy="38404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Weeks 5–6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27448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Model Selection &amp; Scoring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27448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Prune factors (t-stat / judgment)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27448" y="2898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Score stocks out-of-sample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27448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Build long/short portfolios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27448" y="40325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Compute monthly spread returns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93992" y="1463040"/>
            <a:ext cx="2029968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93992" y="1463040"/>
            <a:ext cx="2029968" cy="38404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85432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Weeks 7–8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85432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5E"/>
                </a:solidFill>
              </a:rPr>
              <a:t>Analytics &amp; Slides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85432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B6C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Run 4 performance analytics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85432" y="2898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B6C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Interpret &amp; compare to benchmarks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85432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B6C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Draft presentation slides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85432" y="40325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B6C"/>
                </a:solidFill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</a:rPr>
              <a:t>Practice 15–20 min delivery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371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📅  FINAL DEADLINE:  Monday, May 11, 2026  ·  10:30 AM EDT  ·  VMH 3505  ·  Upload slides + code to ELMS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ADVANCED CONSIDERATION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Judgment: A Bayesian Approach to Factor Selection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91440" cy="10515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signal with a low t-statistic — or even the wrong sign — may still belong in your final model if there is a compelling research article or strong economic rationale. Think of your prior beliefs (from the literature) as Bayesian priors that can outweigh limited sample evidence.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78608"/>
          <a:ext cx="8503920" cy="214884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3566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Recommended Action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High t-stat, correct 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9B6C"/>
                          </a:solidFill>
                        </a:rPr>
                        <a:t>Keep 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99"/>
                          </a:solidFill>
                        </a:rPr>
                        <a:t>Strong data support — straightforward inclusion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Low t-stat (&lt; 1.5), correct sign, strong paper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</a:rPr>
                        <a:t>Consider keeping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99"/>
                          </a:solidFill>
                        </a:rPr>
                        <a:t>Prior knowledge outweighs weak sample; document your reasoning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Low t-stat, wrong sign, no strong story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3B3B"/>
                          </a:solidFill>
                        </a:rPr>
                        <a:t>Drop  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99"/>
                          </a:solidFill>
                        </a:rPr>
                        <a:t>Neither data nor theory supports the factor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</a:rPr>
                        <a:t>Wrong sign, strong economic story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Investigate carefully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99"/>
                          </a:solidFill>
                        </a:rPr>
                        <a:t>May indicate a data / construction error — check before keeping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</a:rPr>
              <a:t>⚠  Rule of thumb: keep at least 10 factors in your final model — too few signals = too weak a model for the OOS test.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RESOURCES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Helpful Resources &amp; References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6148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761488" cy="914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openassetpricing.com — Dr. Andrew Chen's factor library (Federal Reserve Board)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WRDS / CRSP — monthly returns, shares outstanding, SIC codes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WRDS / CRSP-Compustat Merged (CCM) — annual fundamentals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Morningstar Direct — fundamentals, analyst estimates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2245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IBES/Thomson via WRDS — analyst earnings estimates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1463040"/>
            <a:ext cx="276148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463040"/>
            <a:ext cx="2761488" cy="914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195681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Fama &amp; MacBeth (1973) 'Risk, Return, and Equilibrium'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25237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Fama &amp; French (1993) '3-Factor Model'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5848" y="30906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Carhart (1997) '4-Factor Model (with Momentum)'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36576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Professor Wermers' textbook: Performance Evaluation &amp; Attribution — Ch. 3,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5848" y="42245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Python Lab #5 solutions (code for regressions &amp; performance analytics)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17336" y="1463040"/>
            <a:ext cx="276148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463040"/>
            <a:ext cx="2761488" cy="914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Course Files on ELMS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4496" y="195681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SIC_49_Industry.xlsx — SIC to 49 FF industry mapping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25237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Python Lab #5 — Fundamental Factor Model starter code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30906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Wermers 'Fundamental Factor Model' lecture note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4496" y="36576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BE3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1C2B4A"/>
                </a:solidFill>
              </a:rPr>
              <a:t>This instructions document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TEMPLATE — RESULTS SLIDE (YOUR GROUP FILLS 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Out-of-Sample Performance Summary [TEMPLATE]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</a:rPr>
              <a:t>Replace all italicized placeholder values below with your actual results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19072"/>
          <a:ext cx="8503920" cy="196596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737360"/>
                <a:gridCol w="1920240"/>
              </a:tblGrid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Long Portfolio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Short Portfolio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L–S Spread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Annualized Raw Return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9B6C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CAPM Alpha (annualized)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9B6C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4-Factor Alpha (annualized)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9B6C"/>
                          </a:solidFill>
                        </a:rPr>
                        <a:t>xx.x%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Information Ratio (4-factor)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9B6C"/>
                          </a:solidFill>
                        </a:rPr>
                        <a:t>x.xx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t-stat on 4-Factor Alpha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9B6C"/>
                          </a:solidFill>
                        </a:rPr>
                        <a:t>x.xx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767328"/>
            <a:ext cx="8503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3767328"/>
            <a:ext cx="91440" cy="1234440"/>
          </a:xfrm>
          <a:prstGeom prst="rect">
            <a:avLst/>
          </a:prstGeom>
          <a:solidFill>
            <a:srgbClr val="1D9B6C"/>
          </a:solidFill>
          <a:ln w="12700">
            <a:solidFill>
              <a:srgbClr val="1D9B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840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What to discuss alongside this table: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" y="4151376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Is the 4-factor alpha statistically significant (t &gt; 2.0)?   </a:t>
            </a:r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Is the IR &gt; 0.5 (generally considered good in practice)?   </a:t>
            </a:r>
            <a:pPr indent="0" marL="0">
              <a:buNone/>
            </a:pPr>
            <a:r>
              <a:rPr lang="en-US" sz="1000" b="1" dirty="0">
                <a:solidFill>
                  <a:srgbClr val="1D9B6C"/>
                </a:solidFill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</a:rPr>
              <a:t>Which sub-periods drove performance? Any market-condition sensitivity?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FAQ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54480"/>
            <a:ext cx="329184" cy="32918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Can we use Matlab instead of Python?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755648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Yes — Matlab, R, C++ are all acceptable. For other languages (Eviews, SAS, Stata), check with the instructor first for approval.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66544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157984"/>
            <a:ext cx="329184" cy="32918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What if a factor has many missing values?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2359152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 stock needs complete data on every factor to be included. Plan for imputation (e.g., mean/median fill) or accept a smaller universe. Document your approach.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761488"/>
            <a:ext cx="329184" cy="32918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724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How many factors should survive the pruning step?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962656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Aim to keep at least 10 factors. Fewer signals = too weak a model. Strong economic stories can justify keeping a factor even with a low t-stat.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73552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364992"/>
            <a:ext cx="329184" cy="32918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Do we have to use equal-weighted portfolios?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566160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Equal-weighting for top/bottom 10% is recommended. Mean-variance optimization is optional and earns extra credit but is not required.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77056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968496"/>
            <a:ext cx="329184" cy="32918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What time period should we use?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4169664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The backtest should cover at least 20–30 years. A split of ~2/3 in-sample and ~1/3 out-of-sample is suggested (e.g., 1985–2006 in, 2007–2023 out).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480560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4572000"/>
            <a:ext cx="329184" cy="32918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" y="4535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Can we use Bloomberg data?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" y="4773168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Yes, but the factors must be available for all stocks at each historical date — not just current tickers. Survivorship bias is a serious concern.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BUFN 442 — Quantitative Backtest Project  ·  Professor Wermers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457200"/>
            <a:ext cx="4389120" cy="4389120"/>
          </a:xfrm>
          <a:prstGeom prst="ellipse">
            <a:avLst/>
          </a:prstGeom>
          <a:solidFill>
            <a:srgbClr val="1E2D60">
              <a:alpha val="45000"/>
            </a:srgbClr>
          </a:solidFill>
          <a:ln w="12700">
            <a:solidFill>
              <a:srgbClr val="1E2D6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560320"/>
            <a:ext cx="3200400" cy="3200400"/>
          </a:xfrm>
          <a:prstGeom prst="ellipse">
            <a:avLst/>
          </a:prstGeom>
          <a:solidFill>
            <a:srgbClr val="152050">
              <a:alpha val="55000"/>
            </a:srgbClr>
          </a:solidFill>
          <a:ln w="12700">
            <a:solidFill>
              <a:srgbClr val="152050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</a:rPr>
              <a:t>BUFN 442 — SPRING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Your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Backtest!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34930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F8"/>
                </a:solidFill>
              </a:rPr>
              <a:t>Form your team early  ·  Start your data collection now  ·  Use all available resources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7132320" cy="548640"/>
          </a:xfrm>
          <a:prstGeom prst="rect">
            <a:avLst/>
          </a:prstGeom>
          <a:solidFill>
            <a:srgbClr val="182045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0050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</a:rPr>
              <a:t>Due: Monday, May 11, 2026  at  10:30 AM EDT  ·  VMH 3505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Backtest Group Project – BUFN 442 Spring 2026</dc:title>
  <dc:subject>PptxGenJS Presentation</dc:subject>
  <dc:creator>PptxGenJS</dc:creator>
  <cp:lastModifiedBy>PptxGenJS</cp:lastModifiedBy>
  <cp:revision>1</cp:revision>
  <dcterms:created xsi:type="dcterms:W3CDTF">2026-03-24T14:45:47Z</dcterms:created>
  <dcterms:modified xsi:type="dcterms:W3CDTF">2026-03-24T14:45:47Z</dcterms:modified>
</cp:coreProperties>
</file>